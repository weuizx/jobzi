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61"/>
    <p:restoredTop sz="94675"/>
  </p:normalViewPr>
  <p:slideViewPr>
    <p:cSldViewPr snapToGrid="0">
      <p:cViewPr varScale="1">
        <p:scale>
          <a:sx n="119" d="100"/>
          <a:sy n="119" d="100"/>
        </p:scale>
        <p:origin x="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1FEF6C-179B-A74B-B47B-3ED3A53965E5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C7E0-FDF1-2740-AA26-26BEEFB60C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007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BC7E0-FDF1-2740-AA26-26BEEFB60CF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0976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BC951B-20E9-6E78-97C9-BBAE8903C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CA12833-1C53-BC2B-C631-7764972FFF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E7025D-E359-C832-09D7-C91E467AE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E0FE6-F20A-904A-A746-978BB4823B2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2FDDD9-1B95-732B-EA70-F2FFACD5F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841426-4463-9118-32F6-4C740E4D4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3765-D2FD-AA40-86ED-1499480930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763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051521-03D3-8109-BBC6-B373BEF81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BAA63A-27B0-DC85-B48A-670010BC5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1F562A-EAC2-B203-9D9B-602B58C61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E0FE6-F20A-904A-A746-978BB4823B2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271548-BB93-8FF7-659E-4638CC67B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5CD8ED-5CFF-41E7-AFB1-9CB6354E3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3765-D2FD-AA40-86ED-1499480930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0593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C5C887-231B-ACD4-5A00-596B9AABA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2C1FD4-9EFB-88A4-9F53-C41D0812A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23A96D-80D5-1237-7045-0F0E424C1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E0FE6-F20A-904A-A746-978BB4823B2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D36E5D-99BB-3EDA-44F1-4FA583FEE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A052C2-FD2C-8AF3-8625-DFF2085D2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3765-D2FD-AA40-86ED-1499480930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7855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4C7C68-CF13-EF06-082D-C8D2CC944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15534-2523-E2A3-4653-19FC157F31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752C61-11F7-14E8-23F7-DAF359AFC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75F2923-6E5C-383C-74E4-F975531D7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E0FE6-F20A-904A-A746-978BB4823B2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1C08ED-7913-525B-A5D4-A90E02FF0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A07C4D-716D-81AF-DD4E-7C482AE13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3765-D2FD-AA40-86ED-1499480930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3432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D7F0AD-553E-CACE-8D0A-ACC28251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7B7C4F-6DFA-8281-9D9D-B862B6D5D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D25D0BD-CC53-91B7-C546-F998ECD728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5523FA8-79D9-D3B4-7EB7-1A784D5B5F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FA618A1-0C2D-1C00-FD21-5CB9016B6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15FA697-18C4-FD6C-2C99-D1D635556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E0FE6-F20A-904A-A746-978BB4823B2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B717E27-B5EA-B981-6E32-399484657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E3036F1-9B6B-CC59-0F6C-4B8CD1EB6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3765-D2FD-AA40-86ED-1499480930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855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238E26-B0C0-3E46-9BE3-A8052FF50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0DD4463-31D6-EC12-CBB8-ED3471848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E0FE6-F20A-904A-A746-978BB4823B2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7E4D102-8871-A86D-8266-0B996A11F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9486BAB-1B17-99AC-892A-2AD39359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3765-D2FD-AA40-86ED-1499480930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7437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AAA39DE-C787-8306-EF69-1DCE5255D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E0FE6-F20A-904A-A746-978BB4823B2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9B0E3CA-541C-D2DC-FA30-6364823F7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FD18CFC-975D-7726-113D-96B9B6C06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3765-D2FD-AA40-86ED-1499480930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806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77787D-0559-A22F-656D-177106731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12027B-DD9A-D468-4F96-664E7AC47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F18639-A05B-A116-79E7-6F6DBAA46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299E16-4DD6-7C21-643C-0A2BA0A17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E0FE6-F20A-904A-A746-978BB4823B2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828F94F-6B01-2D79-FE1C-FAF22E49B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AA138E-067F-B2EE-6F59-F5B0B8662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3765-D2FD-AA40-86ED-1499480930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1918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3F49A7-1669-E097-610C-2AC22BBDF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BC9DA58-E2A1-FD89-8E0A-9A122F230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28A4600-C943-42E5-4EC5-C9384E51B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0EAAE58-5451-766E-D415-3533C0FCE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E0FE6-F20A-904A-A746-978BB4823B2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650D416-34CD-BA91-584A-BF2F67C1C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0606EA8-92CD-C534-75C0-779BC481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3765-D2FD-AA40-86ED-1499480930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5538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E7F4C-C1A4-4EA8-9EF4-CB0C33ED4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543E37C-AC0A-45CD-5D5E-D1DA05A4AD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6AF723-76C5-1346-D121-EB090148F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E0FE6-F20A-904A-A746-978BB4823B2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0D5417-5BDF-5A39-3754-BAB5DBDBE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B13221-EA20-3407-104C-E3E59B45F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3765-D2FD-AA40-86ED-1499480930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353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944B613-30C2-EA1F-297E-CF0A97D8BD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894827F-3C8E-23A6-7224-458AD4E06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0F658C-883E-C4B8-1274-D67CFCA76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E0FE6-F20A-904A-A746-978BB4823B2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19D6A0-2422-636A-7400-6A2C895AE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678493-F2E0-344A-5255-23AF89416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3765-D2FD-AA40-86ED-1499480930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921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AB2972-4B5F-F013-A86F-C7A89C10A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2BEF373-7495-227F-F370-C535A3036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A2D22A-14B1-43C9-D4B3-19AE734502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E0FE6-F20A-904A-A746-978BB4823B2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6DC5D2-C4BE-8767-9526-C9C2195E83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ED3BFD-AE15-1E3A-18A4-5CA336118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13765-D2FD-AA40-86ED-1499480930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2220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C289384-9AE8-B312-08B9-3E18B945A719}"/>
              </a:ext>
            </a:extLst>
          </p:cNvPr>
          <p:cNvSpPr/>
          <p:nvPr/>
        </p:nvSpPr>
        <p:spPr>
          <a:xfrm>
            <a:off x="1678912" y="429409"/>
            <a:ext cx="8834176" cy="1187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541"/>
              </a:lnSpc>
            </a:pPr>
            <a:r>
              <a:rPr lang="ru-RU" sz="4400" dirty="0">
                <a:latin typeface="+mj-lt"/>
                <a:ea typeface="+mj-ea"/>
                <a:cs typeface="+mj-cs"/>
              </a:rPr>
              <a:t>Научно-исследовательская работа</a:t>
            </a:r>
            <a:endParaRPr lang="en-US" sz="44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D8CAFC-ACAE-045D-B33B-A9F78B8B381B}"/>
              </a:ext>
            </a:extLst>
          </p:cNvPr>
          <p:cNvSpPr txBox="1"/>
          <p:nvPr/>
        </p:nvSpPr>
        <p:spPr>
          <a:xfrm>
            <a:off x="1670538" y="4227326"/>
            <a:ext cx="8850923" cy="1760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541"/>
              </a:lnSpc>
            </a:pPr>
            <a:r>
              <a:rPr lang="ru-RU" sz="2400" dirty="0">
                <a:latin typeface="+mj-lt"/>
                <a:ea typeface="+mj-ea"/>
                <a:cs typeface="+mj-cs"/>
              </a:rPr>
              <a:t>Автор: Куртяков Александр Алексеевич, С21-501</a:t>
            </a:r>
          </a:p>
          <a:p>
            <a:pPr algn="ctr">
              <a:lnSpc>
                <a:spcPts val="4541"/>
              </a:lnSpc>
            </a:pPr>
            <a:endParaRPr lang="ru-RU" sz="2400" dirty="0">
              <a:latin typeface="+mj-lt"/>
              <a:ea typeface="+mj-ea"/>
              <a:cs typeface="+mj-cs"/>
            </a:endParaRPr>
          </a:p>
          <a:p>
            <a:pPr algn="ctr">
              <a:lnSpc>
                <a:spcPts val="4541"/>
              </a:lnSpc>
            </a:pPr>
            <a:r>
              <a:rPr lang="ru-RU" sz="2400" dirty="0">
                <a:latin typeface="+mj-lt"/>
                <a:ea typeface="+mj-ea"/>
                <a:cs typeface="+mj-cs"/>
              </a:rPr>
              <a:t>Научный руководитель: Овчаренко Евгений Сергеевич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80CF8C-F645-5FE1-CEC1-35AFFA87F863}"/>
              </a:ext>
            </a:extLst>
          </p:cNvPr>
          <p:cNvSpPr txBox="1"/>
          <p:nvPr/>
        </p:nvSpPr>
        <p:spPr>
          <a:xfrm>
            <a:off x="1423516" y="1616790"/>
            <a:ext cx="9344968" cy="1828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541"/>
              </a:lnSpc>
            </a:pPr>
            <a:r>
              <a:rPr lang="ru-RU" sz="4400" dirty="0">
                <a:latin typeface="+mj-lt"/>
                <a:ea typeface="+mj-ea"/>
                <a:cs typeface="+mj-cs"/>
              </a:rPr>
              <a:t>Тема:  Автоматизация подбора временного персонала для малых бригад и предпринимателей</a:t>
            </a:r>
            <a:endParaRPr lang="en-US" sz="4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20362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139FDA-4E0C-2C91-D802-7C3DCFFDB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Неформальный рынок труда: масштаб и проблемы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94A3DB-0228-662A-19FC-C3772AFA1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effectLst/>
              </a:rPr>
              <a:t>Масштаб: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- 14-17 млн человек (20-25% занятости в РФ)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Срочность: 1-3 дня от вакансии до работы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Массовость: 3-10 человек одновременно</a:t>
            </a:r>
            <a:br>
              <a:rPr lang="ru-RU" dirty="0">
                <a:effectLst/>
              </a:rPr>
            </a:br>
            <a:br>
              <a:rPr lang="ru-RU" dirty="0">
                <a:effectLst/>
              </a:rPr>
            </a:br>
            <a:r>
              <a:rPr lang="ru-RU" dirty="0">
                <a:effectLst/>
              </a:rPr>
              <a:t>Боль работодателей: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Хаос: отклики в разных форматах, теряются в чатах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- 80% времени на рутину, а не на подбор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Нет структуры: "Интересует", "А сколько платят?"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- 30-40% кандидатов не приходят, нет истории</a:t>
            </a:r>
          </a:p>
        </p:txBody>
      </p:sp>
    </p:spTree>
    <p:extLst>
      <p:ext uri="{BB962C8B-B14F-4D97-AF65-F5344CB8AC3E}">
        <p14:creationId xmlns:p14="http://schemas.microsoft.com/office/powerpoint/2010/main" val="700702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4442C3-7145-426C-9045-70E892EFB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Целевая аудитория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60D952-AF1A-3FEE-8A88-1851C848D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956" y="1690688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ru-RU" dirty="0"/>
              <a:t>Работодатели:</a:t>
            </a:r>
            <a:br>
              <a:rPr lang="ru-RU" dirty="0"/>
            </a:br>
            <a:r>
              <a:rPr lang="ru-RU" dirty="0"/>
              <a:t>- Прорабы (разнорабочие, грузчики) - 2-5 раз/месяц</a:t>
            </a:r>
            <a:br>
              <a:rPr lang="ru-RU" dirty="0"/>
            </a:br>
            <a:r>
              <a:rPr lang="ru-RU" dirty="0"/>
              <a:t>- Фермеры (сезонные работы) - 5-20 человек</a:t>
            </a:r>
            <a:br>
              <a:rPr lang="ru-RU" dirty="0"/>
            </a:br>
            <a:r>
              <a:rPr lang="ru-RU" dirty="0"/>
              <a:t>- Логисты (грузчики, комплектовщики) - постоянно</a:t>
            </a:r>
            <a:br>
              <a:rPr lang="ru-RU" dirty="0"/>
            </a:br>
            <a:r>
              <a:rPr lang="ru-RU" dirty="0"/>
              <a:t>- Организаторы событий (промоутеры) - по проектам</a:t>
            </a:r>
            <a:br>
              <a:rPr lang="ru-RU" dirty="0"/>
            </a:br>
            <a:r>
              <a:rPr lang="ru-RU" dirty="0"/>
              <a:t>Соискатели:</a:t>
            </a:r>
            <a:br>
              <a:rPr lang="ru-RU" dirty="0"/>
            </a:br>
            <a:r>
              <a:rPr lang="ru-RU" dirty="0"/>
              <a:t>- Студенты (подработка)</a:t>
            </a:r>
            <a:br>
              <a:rPr lang="ru-RU" dirty="0"/>
            </a:br>
            <a:r>
              <a:rPr lang="ru-RU" dirty="0"/>
              <a:t>- Люди с доп. доходом</a:t>
            </a:r>
            <a:br>
              <a:rPr lang="ru-RU" dirty="0"/>
            </a:br>
            <a:r>
              <a:rPr lang="ru-RU" dirty="0"/>
              <a:t>- Мигранты</a:t>
            </a:r>
            <a:br>
              <a:rPr lang="ru-RU" dirty="0"/>
            </a:br>
            <a:r>
              <a:rPr lang="ru-RU" dirty="0"/>
              <a:t>- Временно безработные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45FC0B-10D4-B77C-FBCC-DEF73C639AEA}"/>
              </a:ext>
            </a:extLst>
          </p:cNvPr>
          <p:cNvSpPr txBox="1"/>
          <p:nvPr/>
        </p:nvSpPr>
        <p:spPr>
          <a:xfrm>
            <a:off x="493956" y="6231265"/>
            <a:ext cx="6003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Готовность платить: 500-1,000₽/месяц</a:t>
            </a:r>
          </a:p>
        </p:txBody>
      </p:sp>
    </p:spTree>
    <p:extLst>
      <p:ext uri="{BB962C8B-B14F-4D97-AF65-F5344CB8AC3E}">
        <p14:creationId xmlns:p14="http://schemas.microsoft.com/office/powerpoint/2010/main" val="36044476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CFF035-43CD-7141-7C6F-7D38BDB7D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существующие решения не подходят?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0E0A183B-3DF7-2540-5FAA-33ACB47846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880901"/>
              </p:ext>
            </p:extLst>
          </p:nvPr>
        </p:nvGraphicFramePr>
        <p:xfrm>
          <a:off x="838200" y="1825625"/>
          <a:ext cx="10515600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70665339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64989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Решение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Проблема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666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HeadHunter</a:t>
                      </a:r>
                      <a:r>
                        <a:rPr lang="e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SuperJob</a:t>
                      </a:r>
                      <a:endParaRPr lang="e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Долгий цикл найма (недели), Требуют резюме, От 5,000₽/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мес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961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Avito</a:t>
                      </a:r>
                      <a:r>
                        <a:rPr lang="e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Работа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Отклики в разном формате, Нет анкет, Ручная обработка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490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YouDo</a:t>
                      </a:r>
                      <a:r>
                        <a:rPr lang="e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Profi.ru</a:t>
                      </a:r>
                      <a:endParaRPr lang="e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Для специалистов, не для масс-найма, Комиссия 15-20%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75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Telegram-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чаты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Полностью ручное управление, Отклики теряются, Нет экспорта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44869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CD8B4A8-A235-60DC-FF20-EBECC52FD93A}"/>
              </a:ext>
            </a:extLst>
          </p:cNvPr>
          <p:cNvSpPr txBox="1"/>
          <p:nvPr/>
        </p:nvSpPr>
        <p:spPr>
          <a:xfrm>
            <a:off x="838200" y="5421855"/>
            <a:ext cx="10022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effectLst/>
              </a:rPr>
              <a:t>Вывод: Свободная ниша для временного неформального найма</a:t>
            </a:r>
          </a:p>
        </p:txBody>
      </p:sp>
    </p:spTree>
    <p:extLst>
      <p:ext uri="{BB962C8B-B14F-4D97-AF65-F5344CB8AC3E}">
        <p14:creationId xmlns:p14="http://schemas.microsoft.com/office/powerpoint/2010/main" val="2864845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77343A-9CCE-52D3-5241-C90DA259E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 err="1"/>
              <a:t>Jobzi</a:t>
            </a:r>
            <a:r>
              <a:rPr lang="en" dirty="0"/>
              <a:t> - Telegram-</a:t>
            </a:r>
            <a:r>
              <a:rPr lang="ru-RU" dirty="0"/>
              <a:t>бот для автоматизации найма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FE5A94-1B04-EED6-8C84-29DE4A696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>
                <a:effectLst/>
              </a:rPr>
              <a:t>Функционал: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Создание вакансии за 2-3 минуты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Уникальный код: </a:t>
            </a:r>
            <a:r>
              <a:rPr lang="en" dirty="0">
                <a:effectLst/>
              </a:rPr>
              <a:t>ABC123 (</a:t>
            </a:r>
            <a:r>
              <a:rPr lang="ru-RU" dirty="0">
                <a:effectLst/>
              </a:rPr>
              <a:t>легко запомнить)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Настраиваемые анкеты (6 типов вопросов)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</a:t>
            </a:r>
            <a:r>
              <a:rPr lang="ru-RU" dirty="0" err="1">
                <a:effectLst/>
              </a:rPr>
              <a:t>Автосбор</a:t>
            </a:r>
            <a:r>
              <a:rPr lang="ru-RU" dirty="0">
                <a:effectLst/>
              </a:rPr>
              <a:t> откликов со структурой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Экспорт в </a:t>
            </a:r>
            <a:r>
              <a:rPr lang="en" dirty="0">
                <a:effectLst/>
              </a:rPr>
              <a:t>Excel </a:t>
            </a:r>
            <a:r>
              <a:rPr lang="ru-RU" dirty="0">
                <a:effectLst/>
              </a:rPr>
              <a:t>одной кнопкой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Рассылка в </a:t>
            </a:r>
            <a:r>
              <a:rPr lang="en" dirty="0">
                <a:effectLst/>
              </a:rPr>
              <a:t>Telegram-</a:t>
            </a:r>
            <a:r>
              <a:rPr lang="ru-RU" dirty="0">
                <a:effectLst/>
              </a:rPr>
              <a:t>группы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История: кто работал хорошо, кто подводил</a:t>
            </a:r>
            <a:br>
              <a:rPr lang="ru-RU" dirty="0">
                <a:effectLst/>
              </a:rPr>
            </a:br>
            <a:br>
              <a:rPr lang="ru-RU" dirty="0">
                <a:effectLst/>
              </a:rPr>
            </a:br>
            <a:r>
              <a:rPr lang="ru-RU" dirty="0">
                <a:effectLst/>
              </a:rPr>
              <a:t>Почему </a:t>
            </a:r>
            <a:r>
              <a:rPr lang="en" dirty="0">
                <a:effectLst/>
              </a:rPr>
              <a:t>Telegram:</a:t>
            </a:r>
            <a:br>
              <a:rPr lang="en" dirty="0">
                <a:effectLst/>
              </a:rPr>
            </a:br>
            <a:r>
              <a:rPr lang="en" dirty="0">
                <a:effectLst/>
              </a:rPr>
              <a:t>- 65+ </a:t>
            </a:r>
            <a:r>
              <a:rPr lang="ru-RU" dirty="0">
                <a:effectLst/>
              </a:rPr>
              <a:t>млн пользователей в России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Уже используется малым бизнесом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Нулевой барьер входа</a:t>
            </a:r>
          </a:p>
        </p:txBody>
      </p:sp>
    </p:spTree>
    <p:extLst>
      <p:ext uri="{BB962C8B-B14F-4D97-AF65-F5344CB8AC3E}">
        <p14:creationId xmlns:p14="http://schemas.microsoft.com/office/powerpoint/2010/main" val="1482033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A45FC3-ECD3-4506-7558-33A04584E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Сценарий: Создание вакансии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AF13E6-A8BA-5BE5-984A-851A43C97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318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effectLst/>
              </a:rPr>
              <a:t>Пошаговый диалог (5 шагов):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1. Название: "Разнорабочий на стройку"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2. Описание: "Требуется помощь с отделкой"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3. Локация: "Москва, ул. Ленина 10" (опционально)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4. Зарплата: "3000₽/день" (опционально)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5. Предпросмотр → Опубликовать</a:t>
            </a:r>
            <a:br>
              <a:rPr lang="ru-RU" dirty="0">
                <a:effectLst/>
              </a:rPr>
            </a:br>
            <a:br>
              <a:rPr lang="ru-RU" dirty="0">
                <a:effectLst/>
              </a:rPr>
            </a:br>
            <a:r>
              <a:rPr lang="ru-RU" dirty="0">
                <a:effectLst/>
              </a:rPr>
              <a:t>Результат: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Вакансия получает код: </a:t>
            </a:r>
            <a:r>
              <a:rPr lang="en" dirty="0">
                <a:effectLst/>
              </a:rPr>
              <a:t>ABC123</a:t>
            </a:r>
            <a:br>
              <a:rPr lang="en" dirty="0">
                <a:effectLst/>
              </a:rPr>
            </a:br>
            <a:r>
              <a:rPr lang="en" dirty="0">
                <a:effectLst/>
              </a:rPr>
              <a:t>- </a:t>
            </a:r>
            <a:r>
              <a:rPr lang="ru-RU" dirty="0">
                <a:effectLst/>
              </a:rPr>
              <a:t>Статус: </a:t>
            </a:r>
            <a:r>
              <a:rPr lang="en" dirty="0">
                <a:effectLst/>
              </a:rPr>
              <a:t>ACTIVE</a:t>
            </a:r>
            <a:br>
              <a:rPr lang="en" dirty="0">
                <a:effectLst/>
              </a:rPr>
            </a:br>
            <a:r>
              <a:rPr lang="en" dirty="0">
                <a:effectLst/>
              </a:rPr>
              <a:t>- </a:t>
            </a:r>
            <a:r>
              <a:rPr lang="ru-RU" dirty="0">
                <a:effectLst/>
              </a:rPr>
              <a:t>Можно выбрать: стандартные вопросы или свои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10FA7B6-91A7-97D3-269F-593F67CBD8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2179" y="194978"/>
            <a:ext cx="3055171" cy="662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004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2AB6A2-4210-EF1A-02F6-061551BC4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Сценарий: Отклик соискателя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88AF71-98BD-EBCA-0D29-906C51C02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288" y="198961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>
                <a:effectLst/>
              </a:rPr>
              <a:t>Процесс отклика: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1. Увидел объявление с кодом </a:t>
            </a:r>
            <a:r>
              <a:rPr lang="en" dirty="0">
                <a:effectLst/>
              </a:rPr>
              <a:t>ABC123</a:t>
            </a:r>
            <a:br>
              <a:rPr lang="en" dirty="0">
                <a:effectLst/>
              </a:rPr>
            </a:br>
            <a:r>
              <a:rPr lang="en" dirty="0">
                <a:effectLst/>
              </a:rPr>
              <a:t>2. </a:t>
            </a:r>
            <a:r>
              <a:rPr lang="ru-RU" dirty="0">
                <a:effectLst/>
              </a:rPr>
              <a:t>Открыл бота, ввел код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3. Увидел детали вакансии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4. Заполнил анкету: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   - ФИО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   - Телефон (автопроверка формата)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   - Возраст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   - Опыт работы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5. Получил подтверждение</a:t>
            </a:r>
            <a:br>
              <a:rPr lang="ru-RU" dirty="0">
                <a:effectLst/>
              </a:rPr>
            </a:br>
            <a:br>
              <a:rPr lang="en" dirty="0">
                <a:effectLst/>
              </a:rPr>
            </a:br>
            <a:r>
              <a:rPr lang="ru-RU" dirty="0">
                <a:effectLst/>
              </a:rPr>
              <a:t>Для работодателя: Все отклики в одном месте, структурированы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2690250-2623-FD75-0185-97EF34D6FE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2471" y="1262959"/>
            <a:ext cx="2286149" cy="495908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0D4CD2-A23E-26D4-1B36-E21D07E238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8621" y="1262959"/>
            <a:ext cx="2262186" cy="495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605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D14769-B961-FA1F-FC23-22E3CC399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0BC3C2-B581-3C1D-8E8F-7C5E81D18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19542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effectLst/>
              </a:rPr>
              <a:t>6-уровневая архитектура: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5628C2-CB8C-9E67-B1C2-FE2E565ABEEE}"/>
              </a:ext>
            </a:extLst>
          </p:cNvPr>
          <p:cNvSpPr txBox="1"/>
          <p:nvPr/>
        </p:nvSpPr>
        <p:spPr>
          <a:xfrm>
            <a:off x="838200" y="2626321"/>
            <a:ext cx="60995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Преимущества: Слабая связанность, легко тестировать, масштабируемость</a:t>
            </a:r>
            <a:endParaRPr lang="ru-RU" dirty="0">
              <a:effectLst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622A0F5-969D-A317-3F0F-B4ECC1472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965" y="72571"/>
            <a:ext cx="2552177" cy="678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445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88C2D9-A166-B096-875A-E064DC150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57AAA5-51BE-A76E-AB51-DAE8A585A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" dirty="0">
                <a:effectLst/>
              </a:rPr>
              <a:t>Backend:</a:t>
            </a:r>
            <a:br>
              <a:rPr lang="en" dirty="0">
                <a:effectLst/>
              </a:rPr>
            </a:br>
            <a:r>
              <a:rPr lang="en" dirty="0">
                <a:effectLst/>
              </a:rPr>
              <a:t>- Kotlin - null safety, coroutines, -40% </a:t>
            </a:r>
            <a:r>
              <a:rPr lang="ru-RU" dirty="0">
                <a:effectLst/>
              </a:rPr>
              <a:t>кода </a:t>
            </a:r>
            <a:r>
              <a:rPr lang="en" dirty="0">
                <a:effectLst/>
              </a:rPr>
              <a:t>vs Java</a:t>
            </a:r>
            <a:br>
              <a:rPr lang="en" dirty="0">
                <a:effectLst/>
              </a:rPr>
            </a:br>
            <a:r>
              <a:rPr lang="en" dirty="0">
                <a:effectLst/>
              </a:rPr>
              <a:t>- Spring Boot - DI, JPA, </a:t>
            </a:r>
            <a:r>
              <a:rPr lang="ru-RU" dirty="0">
                <a:effectLst/>
              </a:rPr>
              <a:t>транзакции, </a:t>
            </a:r>
            <a:r>
              <a:rPr lang="en" dirty="0">
                <a:effectLst/>
              </a:rPr>
              <a:t>scheduling</a:t>
            </a:r>
            <a:br>
              <a:rPr lang="en" dirty="0">
                <a:effectLst/>
              </a:rPr>
            </a:br>
            <a:r>
              <a:rPr lang="en" dirty="0">
                <a:effectLst/>
              </a:rPr>
              <a:t>- PostgreSQL 16 - ACID, JSON, constraints</a:t>
            </a:r>
            <a:br>
              <a:rPr lang="en" dirty="0">
                <a:effectLst/>
              </a:rPr>
            </a:br>
            <a:br>
              <a:rPr lang="en" dirty="0">
                <a:effectLst/>
              </a:rPr>
            </a:br>
            <a:r>
              <a:rPr lang="ru-RU" dirty="0">
                <a:effectLst/>
              </a:rPr>
              <a:t>Интеграции: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</a:t>
            </a:r>
            <a:r>
              <a:rPr lang="en" dirty="0">
                <a:effectLst/>
              </a:rPr>
              <a:t>Telegram Bot API (</a:t>
            </a:r>
            <a:r>
              <a:rPr lang="en" dirty="0" err="1">
                <a:effectLst/>
              </a:rPr>
              <a:t>TelegramBots</a:t>
            </a:r>
            <a:r>
              <a:rPr lang="en" dirty="0">
                <a:effectLst/>
              </a:rPr>
              <a:t> library)</a:t>
            </a:r>
            <a:br>
              <a:rPr lang="en" dirty="0">
                <a:effectLst/>
              </a:rPr>
            </a:br>
            <a:r>
              <a:rPr lang="en" dirty="0">
                <a:effectLst/>
              </a:rPr>
              <a:t>- Apache POI - </a:t>
            </a:r>
            <a:r>
              <a:rPr lang="ru-RU" dirty="0">
                <a:effectLst/>
              </a:rPr>
              <a:t>генерация </a:t>
            </a:r>
            <a:r>
              <a:rPr lang="en" dirty="0">
                <a:effectLst/>
              </a:rPr>
              <a:t>Excel</a:t>
            </a:r>
            <a:br>
              <a:rPr lang="en" dirty="0">
                <a:effectLst/>
              </a:rPr>
            </a:br>
            <a:r>
              <a:rPr lang="en" dirty="0">
                <a:effectLst/>
              </a:rPr>
              <a:t>- Liquibase - </a:t>
            </a:r>
            <a:r>
              <a:rPr lang="ru-RU" dirty="0">
                <a:effectLst/>
              </a:rPr>
              <a:t>миграции БД</a:t>
            </a:r>
            <a:br>
              <a:rPr lang="ru-RU" dirty="0">
                <a:effectLst/>
              </a:rPr>
            </a:br>
            <a:br>
              <a:rPr lang="ru-RU" dirty="0">
                <a:effectLst/>
              </a:rPr>
            </a:br>
            <a:br>
              <a:rPr lang="ru-RU" dirty="0">
                <a:effectLst/>
              </a:rPr>
            </a:br>
            <a:endParaRPr lang="ru-RU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33C36C-E2FC-B47A-2A14-8BBBF3D6F96A}"/>
              </a:ext>
            </a:extLst>
          </p:cNvPr>
          <p:cNvSpPr txBox="1"/>
          <p:nvPr/>
        </p:nvSpPr>
        <p:spPr>
          <a:xfrm>
            <a:off x="7223759" y="3753868"/>
            <a:ext cx="609958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effectLst/>
              </a:rPr>
              <a:t>Инфраструктура:</a:t>
            </a:r>
            <a:br>
              <a:rPr lang="ru-RU" sz="2800" dirty="0">
                <a:effectLst/>
              </a:rPr>
            </a:br>
            <a:r>
              <a:rPr lang="ru-RU" sz="2800" dirty="0">
                <a:effectLst/>
              </a:rPr>
              <a:t>- </a:t>
            </a:r>
            <a:r>
              <a:rPr lang="en" sz="2800" dirty="0">
                <a:effectLst/>
              </a:rPr>
              <a:t>Docker Compose - PostgreSQL</a:t>
            </a:r>
            <a:br>
              <a:rPr lang="en" sz="2800" dirty="0">
                <a:effectLst/>
              </a:rPr>
            </a:br>
            <a:r>
              <a:rPr lang="en" sz="2800" dirty="0">
                <a:effectLst/>
              </a:rPr>
              <a:t>- Gradle (Kotlin DSL) - </a:t>
            </a:r>
            <a:r>
              <a:rPr lang="ru-RU" sz="2800" dirty="0">
                <a:effectLst/>
              </a:rPr>
              <a:t>сборка</a:t>
            </a:r>
            <a:endParaRPr lang="ru-RU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37995C-27C7-332E-28A1-7B3018CF841B}"/>
              </a:ext>
            </a:extLst>
          </p:cNvPr>
          <p:cNvSpPr txBox="1"/>
          <p:nvPr/>
        </p:nvSpPr>
        <p:spPr>
          <a:xfrm>
            <a:off x="838200" y="5741905"/>
            <a:ext cx="112632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effectLst/>
              </a:rPr>
              <a:t>Почему </a:t>
            </a:r>
            <a:r>
              <a:rPr lang="en" sz="2800" dirty="0">
                <a:effectLst/>
              </a:rPr>
              <a:t>JVM-</a:t>
            </a:r>
            <a:r>
              <a:rPr lang="ru-RU" sz="2800" dirty="0">
                <a:effectLst/>
              </a:rPr>
              <a:t>стек: </a:t>
            </a:r>
            <a:r>
              <a:rPr lang="en" sz="2800" dirty="0">
                <a:effectLst/>
              </a:rPr>
              <a:t>Production-ready, </a:t>
            </a:r>
            <a:r>
              <a:rPr lang="ru-RU" sz="2800" dirty="0">
                <a:effectLst/>
              </a:rPr>
              <a:t>быстрая разработка </a:t>
            </a:r>
            <a:r>
              <a:rPr lang="en" sz="2800" dirty="0">
                <a:effectLst/>
              </a:rPr>
              <a:t>MVP, </a:t>
            </a:r>
            <a:r>
              <a:rPr lang="ru-RU" sz="2800" dirty="0">
                <a:effectLst/>
              </a:rPr>
              <a:t>масштабируемость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057086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500514-6D02-ADC8-90CC-B329807D5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Технические детали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8C78FB-C55B-25B6-CF52-C0BE8225D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741" y="1690688"/>
            <a:ext cx="9467625" cy="54734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" dirty="0">
                <a:effectLst/>
              </a:rPr>
              <a:t>1. Snapshot </a:t>
            </a:r>
            <a:r>
              <a:rPr lang="ru-RU" dirty="0">
                <a:effectLst/>
              </a:rPr>
              <a:t>контекста ответов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Проблема: Работодатель изменил вопрос "Как вас зовут?" на "Введите ФИО" после получения откликов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Решение: При сохранении ответа копируется текст вопроса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Результат: В отклике отображается "Как вас зовут?"</a:t>
            </a:r>
            <a:br>
              <a:rPr lang="ru-RU" dirty="0">
                <a:effectLst/>
              </a:rPr>
            </a:br>
            <a:br>
              <a:rPr lang="ru-RU" dirty="0">
                <a:effectLst/>
              </a:rPr>
            </a:br>
            <a:r>
              <a:rPr lang="ru-RU" dirty="0">
                <a:effectLst/>
              </a:rPr>
              <a:t>2. Защита от дублей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</a:t>
            </a:r>
            <a:r>
              <a:rPr lang="en" dirty="0">
                <a:effectLst/>
              </a:rPr>
              <a:t>UNIQUE constraint (</a:t>
            </a:r>
            <a:r>
              <a:rPr lang="en" dirty="0" err="1">
                <a:effectLst/>
              </a:rPr>
              <a:t>vacancy_id</a:t>
            </a:r>
            <a:r>
              <a:rPr lang="en" dirty="0">
                <a:effectLst/>
              </a:rPr>
              <a:t>, </a:t>
            </a:r>
            <a:r>
              <a:rPr lang="en" dirty="0" err="1">
                <a:effectLst/>
              </a:rPr>
              <a:t>user_id</a:t>
            </a:r>
            <a:r>
              <a:rPr lang="en" dirty="0">
                <a:effectLst/>
              </a:rPr>
              <a:t>)</a:t>
            </a:r>
            <a:br>
              <a:rPr lang="en" dirty="0">
                <a:effectLst/>
              </a:rPr>
            </a:br>
            <a:r>
              <a:rPr lang="en" dirty="0">
                <a:effectLst/>
              </a:rPr>
              <a:t>- </a:t>
            </a:r>
            <a:r>
              <a:rPr lang="ru-RU" dirty="0">
                <a:effectLst/>
              </a:rPr>
              <a:t>Один отклик от пользователя на вакансию</a:t>
            </a:r>
            <a:br>
              <a:rPr lang="ru-RU" dirty="0">
                <a:effectLst/>
              </a:rPr>
            </a:br>
            <a:br>
              <a:rPr lang="ru-RU" dirty="0">
                <a:effectLst/>
              </a:rPr>
            </a:br>
            <a:r>
              <a:rPr lang="ru-RU" dirty="0">
                <a:effectLst/>
              </a:rPr>
              <a:t>3. </a:t>
            </a:r>
            <a:r>
              <a:rPr lang="ru-RU" dirty="0" err="1">
                <a:effectLst/>
              </a:rPr>
              <a:t>Мультитенантность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Каждый бизнес видит только свои данные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Изоляция через </a:t>
            </a:r>
            <a:r>
              <a:rPr lang="en" dirty="0" err="1">
                <a:effectLst/>
              </a:rPr>
              <a:t>business_id</a:t>
            </a:r>
            <a:br>
              <a:rPr lang="en" dirty="0">
                <a:effectLst/>
              </a:rPr>
            </a:b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D7091F-3C0A-BE1D-50DE-89E5D545EA5C}"/>
              </a:ext>
            </a:extLst>
          </p:cNvPr>
          <p:cNvSpPr txBox="1"/>
          <p:nvPr/>
        </p:nvSpPr>
        <p:spPr>
          <a:xfrm>
            <a:off x="7190590" y="4043927"/>
            <a:ext cx="470736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" sz="2800" dirty="0">
                <a:effectLst/>
              </a:rPr>
              <a:t>4. </a:t>
            </a:r>
            <a:r>
              <a:rPr lang="ru-RU" sz="2800" dirty="0">
                <a:effectLst/>
              </a:rPr>
              <a:t>Валидация</a:t>
            </a:r>
            <a:br>
              <a:rPr lang="ru-RU" sz="2800" dirty="0">
                <a:effectLst/>
              </a:rPr>
            </a:br>
            <a:r>
              <a:rPr lang="ru-RU" sz="2800" dirty="0">
                <a:effectLst/>
              </a:rPr>
              <a:t>- Код вакансии: </a:t>
            </a:r>
            <a:r>
              <a:rPr lang="en" sz="2800" dirty="0">
                <a:effectLst/>
              </a:rPr>
              <a:t>ABC123 (</a:t>
            </a:r>
            <a:r>
              <a:rPr lang="ru-RU" sz="2800" dirty="0">
                <a:effectLst/>
              </a:rPr>
              <a:t>формат [</a:t>
            </a:r>
            <a:r>
              <a:rPr lang="en" sz="2800" dirty="0">
                <a:effectLst/>
              </a:rPr>
              <a:t>A-Z]{3}\d{3})</a:t>
            </a:r>
            <a:br>
              <a:rPr lang="en" sz="2800" dirty="0">
                <a:effectLst/>
              </a:rPr>
            </a:br>
            <a:r>
              <a:rPr lang="en" sz="2800" dirty="0">
                <a:effectLst/>
              </a:rPr>
              <a:t>- </a:t>
            </a:r>
            <a:r>
              <a:rPr lang="ru-RU" sz="2800" dirty="0">
                <a:effectLst/>
              </a:rPr>
              <a:t>Телефон: +7 (</a:t>
            </a:r>
            <a:r>
              <a:rPr lang="en" sz="2800" dirty="0">
                <a:effectLst/>
              </a:rPr>
              <a:t>XXX) XXX-XX-XX</a:t>
            </a:r>
            <a:br>
              <a:rPr lang="en" sz="2800" dirty="0">
                <a:effectLst/>
              </a:rPr>
            </a:br>
            <a:r>
              <a:rPr lang="en" sz="2800" dirty="0">
                <a:effectLst/>
              </a:rPr>
              <a:t>- </a:t>
            </a:r>
            <a:r>
              <a:rPr lang="ru-RU" sz="2800" dirty="0">
                <a:effectLst/>
              </a:rPr>
              <a:t>Все типы вопросов</a:t>
            </a:r>
          </a:p>
        </p:txBody>
      </p:sp>
    </p:spTree>
    <p:extLst>
      <p:ext uri="{BB962C8B-B14F-4D97-AF65-F5344CB8AC3E}">
        <p14:creationId xmlns:p14="http://schemas.microsoft.com/office/powerpoint/2010/main" val="270390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92F57-3B9D-21EB-1DC3-C5221B855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База данных (14 таблиц)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F70D53-249F-FA36-179F-D68638486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6835"/>
            <a:ext cx="6906409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effectLst/>
              </a:rPr>
              <a:t>Основные таблицы и связи:</a:t>
            </a:r>
            <a:br>
              <a:rPr lang="ru-RU" sz="2400" dirty="0">
                <a:effectLst/>
              </a:rPr>
            </a:br>
            <a:br>
              <a:rPr lang="ru-RU" sz="2400" dirty="0">
                <a:effectLst/>
              </a:rPr>
            </a:br>
            <a:r>
              <a:rPr lang="ru-RU" sz="2400" dirty="0">
                <a:effectLst/>
              </a:rPr>
              <a:t>  • </a:t>
            </a:r>
            <a:r>
              <a:rPr lang="en" sz="2400" dirty="0">
                <a:effectLst/>
              </a:rPr>
              <a:t>businesses - </a:t>
            </a:r>
            <a:r>
              <a:rPr lang="ru-RU" sz="2400" dirty="0">
                <a:effectLst/>
              </a:rPr>
              <a:t>бизнесы работодателей</a:t>
            </a:r>
            <a:br>
              <a:rPr lang="ru-RU" sz="2400" dirty="0">
                <a:effectLst/>
              </a:rPr>
            </a:br>
            <a:r>
              <a:rPr lang="ru-RU" sz="2400" dirty="0">
                <a:effectLst/>
              </a:rPr>
              <a:t>  • </a:t>
            </a:r>
            <a:r>
              <a:rPr lang="en" sz="2400" dirty="0">
                <a:effectLst/>
              </a:rPr>
              <a:t>vacancies - </a:t>
            </a:r>
            <a:r>
              <a:rPr lang="ru-RU" sz="2400" dirty="0">
                <a:effectLst/>
              </a:rPr>
              <a:t>вакансии с уникальными кодами</a:t>
            </a:r>
            <a:br>
              <a:rPr lang="ru-RU" sz="2400" dirty="0">
                <a:effectLst/>
              </a:rPr>
            </a:br>
            <a:r>
              <a:rPr lang="ru-RU" sz="2400" dirty="0">
                <a:effectLst/>
              </a:rPr>
              <a:t>  • </a:t>
            </a:r>
            <a:r>
              <a:rPr lang="en" sz="2400" dirty="0">
                <a:effectLst/>
              </a:rPr>
              <a:t>questions - </a:t>
            </a:r>
            <a:r>
              <a:rPr lang="ru-RU" sz="2400" dirty="0">
                <a:effectLst/>
              </a:rPr>
              <a:t>вопросы анкет (6 типов)</a:t>
            </a:r>
            <a:br>
              <a:rPr lang="ru-RU" sz="2400" dirty="0">
                <a:effectLst/>
              </a:rPr>
            </a:br>
            <a:r>
              <a:rPr lang="ru-RU" sz="2400" dirty="0">
                <a:effectLst/>
              </a:rPr>
              <a:t>  • </a:t>
            </a:r>
            <a:r>
              <a:rPr lang="en" sz="2400" dirty="0">
                <a:effectLst/>
              </a:rPr>
              <a:t>applications - </a:t>
            </a:r>
            <a:r>
              <a:rPr lang="ru-RU" sz="2400" dirty="0">
                <a:effectLst/>
              </a:rPr>
              <a:t>отклики соискателей</a:t>
            </a:r>
            <a:br>
              <a:rPr lang="ru-RU" sz="2400" dirty="0">
                <a:effectLst/>
              </a:rPr>
            </a:br>
            <a:r>
              <a:rPr lang="ru-RU" sz="2400" dirty="0">
                <a:effectLst/>
              </a:rPr>
              <a:t>  • </a:t>
            </a:r>
            <a:r>
              <a:rPr lang="en" sz="2400" dirty="0">
                <a:effectLst/>
              </a:rPr>
              <a:t>answers - </a:t>
            </a:r>
            <a:r>
              <a:rPr lang="ru-RU" sz="2400" dirty="0">
                <a:effectLst/>
              </a:rPr>
              <a:t>ответы на вопросы (с </a:t>
            </a:r>
            <a:r>
              <a:rPr lang="en" sz="2400" dirty="0">
                <a:effectLst/>
              </a:rPr>
              <a:t>snapshot </a:t>
            </a:r>
            <a:r>
              <a:rPr lang="ru-RU" sz="2400" dirty="0">
                <a:effectLst/>
              </a:rPr>
              <a:t>контекста!)</a:t>
            </a:r>
            <a:br>
              <a:rPr lang="ru-RU" sz="2400" dirty="0">
                <a:effectLst/>
              </a:rPr>
            </a:br>
            <a:br>
              <a:rPr lang="ru-RU" sz="2400" dirty="0">
                <a:effectLst/>
              </a:rPr>
            </a:br>
            <a:r>
              <a:rPr lang="ru-RU" sz="2400" dirty="0">
                <a:effectLst/>
              </a:rPr>
              <a:t>  • </a:t>
            </a:r>
            <a:r>
              <a:rPr lang="en" sz="2400" dirty="0">
                <a:effectLst/>
              </a:rPr>
              <a:t>users - </a:t>
            </a:r>
            <a:r>
              <a:rPr lang="ru-RU" sz="2400" dirty="0">
                <a:effectLst/>
              </a:rPr>
              <a:t>все пользователи (работодатели и соискатели)</a:t>
            </a:r>
            <a:br>
              <a:rPr lang="ru-RU" sz="2400" dirty="0">
                <a:effectLst/>
              </a:rPr>
            </a:br>
            <a:r>
              <a:rPr lang="ru-RU" sz="2400" dirty="0">
                <a:effectLst/>
              </a:rPr>
              <a:t>  • </a:t>
            </a:r>
            <a:r>
              <a:rPr lang="en" sz="2400" dirty="0" err="1">
                <a:effectLst/>
              </a:rPr>
              <a:t>business_users</a:t>
            </a:r>
            <a:r>
              <a:rPr lang="en" sz="2400" dirty="0">
                <a:effectLst/>
              </a:rPr>
              <a:t> - </a:t>
            </a:r>
            <a:r>
              <a:rPr lang="ru-RU" sz="2400" dirty="0">
                <a:effectLst/>
              </a:rPr>
              <a:t>связь пользователей с бизнесами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9DF599-1E5B-C1D0-46C3-78491D705698}"/>
              </a:ext>
            </a:extLst>
          </p:cNvPr>
          <p:cNvSpPr txBox="1"/>
          <p:nvPr/>
        </p:nvSpPr>
        <p:spPr>
          <a:xfrm>
            <a:off x="6096000" y="1326495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effectLst/>
              </a:rPr>
              <a:t> Таблицы рассылок:</a:t>
            </a:r>
            <a:br>
              <a:rPr lang="ru-RU" sz="2400" dirty="0">
                <a:effectLst/>
              </a:rPr>
            </a:br>
            <a:r>
              <a:rPr lang="ru-RU" sz="2400" dirty="0">
                <a:effectLst/>
              </a:rPr>
              <a:t>  • </a:t>
            </a:r>
            <a:r>
              <a:rPr lang="en" sz="2400" dirty="0" err="1">
                <a:effectLst/>
              </a:rPr>
              <a:t>broadcast_channels</a:t>
            </a:r>
            <a:r>
              <a:rPr lang="en" sz="2400" dirty="0">
                <a:effectLst/>
              </a:rPr>
              <a:t> - </a:t>
            </a:r>
            <a:r>
              <a:rPr lang="ru-RU" sz="2400" dirty="0">
                <a:effectLst/>
              </a:rPr>
              <a:t>каналы (</a:t>
            </a:r>
            <a:r>
              <a:rPr lang="ru-RU" sz="2400" dirty="0" err="1">
                <a:effectLst/>
              </a:rPr>
              <a:t>автодобавление</a:t>
            </a:r>
            <a:r>
              <a:rPr lang="ru-RU" sz="2400" dirty="0">
                <a:effectLst/>
              </a:rPr>
              <a:t> при добавлении бота)</a:t>
            </a:r>
            <a:br>
              <a:rPr lang="ru-RU" sz="2400" dirty="0">
                <a:effectLst/>
              </a:rPr>
            </a:br>
            <a:r>
              <a:rPr lang="ru-RU" sz="2400" dirty="0">
                <a:effectLst/>
              </a:rPr>
              <a:t>  • </a:t>
            </a:r>
            <a:r>
              <a:rPr lang="en" sz="2400" dirty="0" err="1">
                <a:effectLst/>
              </a:rPr>
              <a:t>broadcast_campaigns</a:t>
            </a:r>
            <a:r>
              <a:rPr lang="en" sz="2400" dirty="0">
                <a:effectLst/>
              </a:rPr>
              <a:t> - </a:t>
            </a:r>
            <a:r>
              <a:rPr lang="ru-RU" sz="2400" dirty="0">
                <a:effectLst/>
              </a:rPr>
              <a:t>кампании (</a:t>
            </a:r>
            <a:r>
              <a:rPr lang="en" sz="2400" dirty="0">
                <a:effectLst/>
              </a:rPr>
              <a:t>ONCE, DAILY, WEEKLY)</a:t>
            </a:r>
            <a:br>
              <a:rPr lang="en" sz="2400" dirty="0">
                <a:effectLst/>
              </a:rPr>
            </a:br>
            <a:br>
              <a:rPr lang="en" sz="2400" dirty="0">
                <a:effectLst/>
              </a:rPr>
            </a:br>
            <a:r>
              <a:rPr lang="en" sz="2400" dirty="0">
                <a:effectLst/>
              </a:rPr>
              <a:t>  </a:t>
            </a:r>
            <a:r>
              <a:rPr lang="ru-RU" sz="2400" dirty="0">
                <a:effectLst/>
              </a:rPr>
              <a:t>Ключевые механизмы:</a:t>
            </a:r>
            <a:br>
              <a:rPr lang="ru-RU" sz="2400" dirty="0">
                <a:effectLst/>
              </a:rPr>
            </a:br>
            <a:r>
              <a:rPr lang="ru-RU" sz="2400" dirty="0">
                <a:effectLst/>
              </a:rPr>
              <a:t>  • </a:t>
            </a:r>
            <a:r>
              <a:rPr lang="en" sz="2400" dirty="0">
                <a:effectLst/>
              </a:rPr>
              <a:t>UNIQUE (code) - </a:t>
            </a:r>
            <a:r>
              <a:rPr lang="ru-RU" sz="2400" dirty="0">
                <a:effectLst/>
              </a:rPr>
              <a:t>уникальность кодов вакансий</a:t>
            </a:r>
            <a:br>
              <a:rPr lang="ru-RU" sz="2400" dirty="0">
                <a:effectLst/>
              </a:rPr>
            </a:br>
            <a:r>
              <a:rPr lang="ru-RU" sz="2400" dirty="0">
                <a:effectLst/>
              </a:rPr>
              <a:t>  • </a:t>
            </a:r>
            <a:r>
              <a:rPr lang="en" sz="2400" dirty="0">
                <a:effectLst/>
              </a:rPr>
              <a:t>UNIQUE (</a:t>
            </a:r>
            <a:r>
              <a:rPr lang="en" sz="2400" dirty="0" err="1">
                <a:effectLst/>
              </a:rPr>
              <a:t>vacancy_id</a:t>
            </a:r>
            <a:r>
              <a:rPr lang="en" sz="2400" dirty="0">
                <a:effectLst/>
              </a:rPr>
              <a:t>, </a:t>
            </a:r>
            <a:r>
              <a:rPr lang="en" sz="2400" dirty="0" err="1">
                <a:effectLst/>
              </a:rPr>
              <a:t>user_id</a:t>
            </a:r>
            <a:r>
              <a:rPr lang="en" sz="2400" dirty="0">
                <a:effectLst/>
              </a:rPr>
              <a:t>) - </a:t>
            </a:r>
            <a:r>
              <a:rPr lang="ru-RU" sz="2400" dirty="0">
                <a:effectLst/>
              </a:rPr>
              <a:t>защита от дублей откликов</a:t>
            </a:r>
            <a:br>
              <a:rPr lang="ru-RU" sz="2400" dirty="0">
                <a:effectLst/>
              </a:rPr>
            </a:br>
            <a:r>
              <a:rPr lang="ru-RU" sz="2400" dirty="0">
                <a:effectLst/>
              </a:rPr>
              <a:t>  • </a:t>
            </a:r>
            <a:r>
              <a:rPr lang="en" sz="2400" dirty="0">
                <a:effectLst/>
              </a:rPr>
              <a:t>CASCADE DELETE - </a:t>
            </a:r>
            <a:r>
              <a:rPr lang="ru-RU" sz="2400" dirty="0" err="1">
                <a:effectLst/>
              </a:rPr>
              <a:t>автоочистка</a:t>
            </a:r>
            <a:r>
              <a:rPr lang="ru-RU" sz="2400" dirty="0">
                <a:effectLst/>
              </a:rPr>
              <a:t> связанных данных</a:t>
            </a:r>
            <a:br>
              <a:rPr lang="ru-RU" sz="2400" dirty="0">
                <a:effectLst/>
              </a:rPr>
            </a:br>
            <a:r>
              <a:rPr lang="ru-RU" sz="2400" dirty="0">
                <a:effectLst/>
              </a:rPr>
              <a:t>  • </a:t>
            </a:r>
            <a:r>
              <a:rPr lang="en" sz="2400" dirty="0">
                <a:effectLst/>
              </a:rPr>
              <a:t>Snapshot </a:t>
            </a:r>
            <a:r>
              <a:rPr lang="ru-RU" sz="2400" dirty="0">
                <a:effectLst/>
              </a:rPr>
              <a:t>контекста - сохранение вопросов в момент ответа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79487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C4530D-F4BF-CF5F-097E-9CB12BABA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Обеспечение качества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56BF79-988D-07FF-B56C-5EB1A20BC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3000" dirty="0">
                <a:effectLst/>
              </a:rPr>
              <a:t>Функциональное тестирование:</a:t>
            </a:r>
            <a:br>
              <a:rPr lang="ru-RU" sz="3000" dirty="0">
                <a:effectLst/>
              </a:rPr>
            </a:br>
            <a:r>
              <a:rPr lang="ru-RU" sz="3000" dirty="0">
                <a:effectLst/>
              </a:rPr>
              <a:t>- Создание вакансии со стандартными вопросами</a:t>
            </a:r>
            <a:br>
              <a:rPr lang="ru-RU" sz="3000" dirty="0">
                <a:effectLst/>
              </a:rPr>
            </a:br>
            <a:r>
              <a:rPr lang="ru-RU" sz="3000" dirty="0">
                <a:effectLst/>
              </a:rPr>
              <a:t>- Отклик с заполнением анкеты</a:t>
            </a:r>
            <a:br>
              <a:rPr lang="ru-RU" sz="3000" dirty="0">
                <a:effectLst/>
              </a:rPr>
            </a:br>
            <a:r>
              <a:rPr lang="ru-RU" sz="3000" dirty="0">
                <a:effectLst/>
              </a:rPr>
              <a:t>- Защита от дублей откликов</a:t>
            </a:r>
            <a:br>
              <a:rPr lang="ru-RU" sz="3000" dirty="0">
                <a:effectLst/>
              </a:rPr>
            </a:br>
            <a:r>
              <a:rPr lang="ru-RU" sz="3000" dirty="0">
                <a:effectLst/>
              </a:rPr>
              <a:t>- Валидация кодов (</a:t>
            </a:r>
            <a:r>
              <a:rPr lang="en" sz="3000" dirty="0">
                <a:effectLst/>
              </a:rPr>
              <a:t>ABC123 - </a:t>
            </a:r>
            <a:r>
              <a:rPr lang="ru-RU" sz="3000" dirty="0">
                <a:effectLst/>
              </a:rPr>
              <a:t>корректно, </a:t>
            </a:r>
            <a:r>
              <a:rPr lang="en" sz="3000" dirty="0">
                <a:effectLst/>
              </a:rPr>
              <a:t>AB123 - </a:t>
            </a:r>
            <a:r>
              <a:rPr lang="ru-RU" sz="3000" dirty="0">
                <a:effectLst/>
              </a:rPr>
              <a:t>ошибка, </a:t>
            </a:r>
            <a:r>
              <a:rPr lang="en" sz="3000" dirty="0">
                <a:effectLst/>
              </a:rPr>
              <a:t>ABCD123 - </a:t>
            </a:r>
            <a:r>
              <a:rPr lang="ru-RU" sz="3000" dirty="0">
                <a:effectLst/>
              </a:rPr>
              <a:t>ошибка)</a:t>
            </a:r>
            <a:br>
              <a:rPr lang="ru-RU" sz="3000" dirty="0">
                <a:effectLst/>
              </a:rPr>
            </a:br>
            <a:r>
              <a:rPr lang="ru-RU" sz="3000" dirty="0">
                <a:effectLst/>
              </a:rPr>
              <a:t>- Валидация телефонов</a:t>
            </a:r>
            <a:br>
              <a:rPr lang="ru-RU" sz="3000" dirty="0">
                <a:effectLst/>
              </a:rPr>
            </a:br>
            <a:br>
              <a:rPr lang="ru-RU" sz="3000" dirty="0">
                <a:effectLst/>
              </a:rPr>
            </a:br>
            <a:r>
              <a:rPr lang="ru-RU" sz="3000" dirty="0">
                <a:effectLst/>
              </a:rPr>
              <a:t>Интеграционное тестирование:</a:t>
            </a:r>
            <a:br>
              <a:rPr lang="ru-RU" sz="3000" dirty="0">
                <a:effectLst/>
              </a:rPr>
            </a:br>
            <a:r>
              <a:rPr lang="ru-RU" sz="3000" dirty="0">
                <a:effectLst/>
              </a:rPr>
              <a:t>- Полный цикл создания вакансии (50 итераций)</a:t>
            </a:r>
            <a:br>
              <a:rPr lang="ru-RU" sz="3000" dirty="0">
                <a:effectLst/>
              </a:rPr>
            </a:br>
            <a:r>
              <a:rPr lang="ru-RU" sz="3000" dirty="0">
                <a:effectLst/>
              </a:rPr>
              <a:t>- Создание отклика с </a:t>
            </a:r>
            <a:r>
              <a:rPr lang="en" sz="3000" dirty="0">
                <a:effectLst/>
              </a:rPr>
              <a:t>snapshot (10 </a:t>
            </a:r>
            <a:r>
              <a:rPr lang="ru-RU" sz="3000" dirty="0">
                <a:effectLst/>
              </a:rPr>
              <a:t>откликов)</a:t>
            </a:r>
            <a:br>
              <a:rPr lang="ru-RU" sz="3000" dirty="0">
                <a:effectLst/>
              </a:rPr>
            </a:br>
            <a:r>
              <a:rPr lang="ru-RU" sz="3000" dirty="0">
                <a:effectLst/>
              </a:rPr>
              <a:t>- Проверка </a:t>
            </a:r>
            <a:r>
              <a:rPr lang="en" sz="3000" dirty="0">
                <a:effectLst/>
              </a:rPr>
              <a:t>snapshot </a:t>
            </a:r>
            <a:r>
              <a:rPr lang="ru-RU" sz="3000" dirty="0">
                <a:effectLst/>
              </a:rPr>
              <a:t>при изменении вопроса</a:t>
            </a:r>
            <a:br>
              <a:rPr lang="ru-RU" sz="3000" dirty="0">
                <a:effectLst/>
              </a:rPr>
            </a:br>
            <a:br>
              <a:rPr lang="ru-RU" sz="3000" dirty="0">
                <a:effectLst/>
              </a:rPr>
            </a:br>
            <a:r>
              <a:rPr lang="ru-RU" sz="3000" dirty="0">
                <a:effectLst/>
              </a:rPr>
              <a:t>Результат: Все тесты пройдены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8942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582181-F3C6-579D-BB48-1A9DDAA65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Достигнутые 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9A4D82-563A-965F-2240-13EF50ED5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499" y="1690688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>
                <a:effectLst/>
              </a:rPr>
              <a:t>Экономия времени: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До:    4-6 часов/неделю на подбор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После: 10-15 минут/неделю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Экономия: 95-97% времени (в 20-30 раз!)</a:t>
            </a:r>
            <a:br>
              <a:rPr lang="ru-RU" dirty="0">
                <a:effectLst/>
              </a:rPr>
            </a:br>
            <a:br>
              <a:rPr lang="ru-RU" dirty="0">
                <a:effectLst/>
              </a:rPr>
            </a:br>
            <a:r>
              <a:rPr lang="ru-RU" dirty="0">
                <a:effectLst/>
              </a:rPr>
              <a:t>Реализованный функционал: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Полный цикл: вакансии → анкеты → отклики → экспорт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- 6 типов вопросов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- 5 статусов откликов (</a:t>
            </a:r>
            <a:r>
              <a:rPr lang="en" dirty="0">
                <a:effectLst/>
              </a:rPr>
              <a:t>NEW → VIEWED → ACCEPTED/REJECTED)</a:t>
            </a:r>
            <a:br>
              <a:rPr lang="en" dirty="0">
                <a:effectLst/>
              </a:rPr>
            </a:br>
            <a:r>
              <a:rPr lang="en" dirty="0">
                <a:effectLst/>
              </a:rPr>
              <a:t>- Snapshot </a:t>
            </a:r>
            <a:r>
              <a:rPr lang="ru-RU" dirty="0">
                <a:effectLst/>
              </a:rPr>
              <a:t>контекста для защиты данных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Система рассылок с защитой от </a:t>
            </a:r>
            <a:r>
              <a:rPr lang="en" dirty="0">
                <a:effectLst/>
              </a:rPr>
              <a:t>rate limit</a:t>
            </a:r>
            <a:br>
              <a:rPr lang="en" dirty="0">
                <a:effectLst/>
              </a:rPr>
            </a:br>
            <a:r>
              <a:rPr lang="en" dirty="0">
                <a:effectLst/>
              </a:rPr>
              <a:t>- </a:t>
            </a:r>
            <a:r>
              <a:rPr lang="ru-RU" dirty="0">
                <a:effectLst/>
              </a:rPr>
              <a:t>Административная панель для </a:t>
            </a:r>
            <a:r>
              <a:rPr lang="ru-RU" dirty="0" err="1">
                <a:effectLst/>
              </a:rPr>
              <a:t>суперадмина</a:t>
            </a:r>
            <a:br>
              <a:rPr lang="ru-RU" dirty="0">
                <a:effectLst/>
              </a:rPr>
            </a:br>
            <a:br>
              <a:rPr lang="ru-RU" dirty="0">
                <a:effectLst/>
              </a:rPr>
            </a:br>
            <a:endParaRPr lang="ru-RU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F862F2-15EA-5EF8-0290-8146B628AA2E}"/>
              </a:ext>
            </a:extLst>
          </p:cNvPr>
          <p:cNvSpPr txBox="1"/>
          <p:nvPr/>
        </p:nvSpPr>
        <p:spPr>
          <a:xfrm>
            <a:off x="6965577" y="1613118"/>
            <a:ext cx="609958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effectLst/>
              </a:rPr>
              <a:t>Масштаб </a:t>
            </a:r>
            <a:r>
              <a:rPr lang="en" sz="2800" dirty="0">
                <a:effectLst/>
              </a:rPr>
              <a:t>MVP:</a:t>
            </a:r>
            <a:br>
              <a:rPr lang="en" sz="2800" dirty="0">
                <a:effectLst/>
              </a:rPr>
            </a:br>
            <a:r>
              <a:rPr lang="en" sz="2800" dirty="0">
                <a:effectLst/>
              </a:rPr>
              <a:t>- 10-15 </a:t>
            </a:r>
            <a:r>
              <a:rPr lang="ru-RU" sz="2800" dirty="0">
                <a:effectLst/>
              </a:rPr>
              <a:t>активных бизнесов</a:t>
            </a:r>
            <a:br>
              <a:rPr lang="ru-RU" sz="2800" dirty="0">
                <a:effectLst/>
              </a:rPr>
            </a:br>
            <a:r>
              <a:rPr lang="ru-RU" sz="2800" dirty="0">
                <a:effectLst/>
              </a:rPr>
              <a:t>- 100+ соискателей/день</a:t>
            </a:r>
            <a:br>
              <a:rPr lang="ru-RU" sz="2800" dirty="0">
                <a:effectLst/>
              </a:rPr>
            </a:br>
            <a:r>
              <a:rPr lang="ru-RU" sz="2800" dirty="0">
                <a:effectLst/>
              </a:rPr>
              <a:t>- 300+ откликов/день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519141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2F157-E090-5BA6-3CF6-3A37ECF15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Дальнейшее развитие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56246E-114B-4A33-AB84-A990F7B47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49" y="1610472"/>
            <a:ext cx="11823551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>
                <a:effectLst/>
              </a:rPr>
              <a:t>Подготовка к внедрению: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Развертывание на </a:t>
            </a:r>
            <a:r>
              <a:rPr lang="en" dirty="0">
                <a:effectLst/>
              </a:rPr>
              <a:t>production (</a:t>
            </a:r>
            <a:r>
              <a:rPr lang="ru-RU" dirty="0">
                <a:effectLst/>
              </a:rPr>
              <a:t>облако)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Резервное копирование БД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Миграция состояний на </a:t>
            </a:r>
            <a:r>
              <a:rPr lang="en" dirty="0">
                <a:effectLst/>
              </a:rPr>
              <a:t>Redis (</a:t>
            </a:r>
            <a:r>
              <a:rPr lang="ru-RU" dirty="0">
                <a:effectLst/>
              </a:rPr>
              <a:t>устойчивость к </a:t>
            </a:r>
            <a:r>
              <a:rPr lang="ru-RU" dirty="0" err="1">
                <a:effectLst/>
              </a:rPr>
              <a:t>перезапускам</a:t>
            </a:r>
            <a:r>
              <a:rPr lang="ru-RU" dirty="0">
                <a:effectLst/>
              </a:rPr>
              <a:t>)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Документация для пользователей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Пилотное тестирование: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- 3-5 пилотных клиентов (кафе, магазины, производства)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Сбор метрик использования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Обратная связь и итерации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Выводы: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Решена реальная проблема неформального рынка (14-17 млн человек)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Сокращение времени на подбор в 20-30 раз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- Система готова к апробации в реальных условиях</a:t>
            </a:r>
          </a:p>
        </p:txBody>
      </p:sp>
    </p:spTree>
    <p:extLst>
      <p:ext uri="{BB962C8B-B14F-4D97-AF65-F5344CB8AC3E}">
        <p14:creationId xmlns:p14="http://schemas.microsoft.com/office/powerpoint/2010/main" val="33627253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1223</Words>
  <Application>Microsoft Macintosh PowerPoint</Application>
  <PresentationFormat>Широкоэкранный</PresentationFormat>
  <Paragraphs>49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Тема Office</vt:lpstr>
      <vt:lpstr>Презентация PowerPoint</vt:lpstr>
      <vt:lpstr>Неформальный рынок труда: масштаб и проблемы</vt:lpstr>
      <vt:lpstr>Целевая аудитория</vt:lpstr>
      <vt:lpstr>Почему существующие решения не подходят?</vt:lpstr>
      <vt:lpstr>Jobzi - Telegram-бот для автоматизации найма</vt:lpstr>
      <vt:lpstr>Сценарий: Создание вакансии</vt:lpstr>
      <vt:lpstr>Сценарий: Отклик соискателя</vt:lpstr>
      <vt:lpstr>Архитектура системы</vt:lpstr>
      <vt:lpstr>Технологии</vt:lpstr>
      <vt:lpstr>Технические детали</vt:lpstr>
      <vt:lpstr>База данных (14 таблиц)</vt:lpstr>
      <vt:lpstr>Обеспечение качества</vt:lpstr>
      <vt:lpstr>Достигнутые результаты</vt:lpstr>
      <vt:lpstr>Дальнейшее развитие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 kurtyakov</dc:creator>
  <cp:lastModifiedBy>a kurtyakov</cp:lastModifiedBy>
  <cp:revision>1</cp:revision>
  <dcterms:created xsi:type="dcterms:W3CDTF">2026-02-04T08:30:11Z</dcterms:created>
  <dcterms:modified xsi:type="dcterms:W3CDTF">2026-02-04T09:17:57Z</dcterms:modified>
</cp:coreProperties>
</file>