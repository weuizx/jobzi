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Разработка системы автоматизации подбора временного персонала на базе Telegram Bot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Выполнил: Куртяков А.</a:t>
            </a:r>
          </a:p>
          <a:p>
            <a:pPr>
              <a:defRPr sz="1800"/>
            </a:pPr>
            <a:r>
              <a:t>Научно-исследовательская работа</a:t>
            </a:r>
          </a:p>
          <a:p>
            <a:pPr>
              <a:defRPr sz="1800"/>
            </a:pPr>
            <a:r>
              <a:t>9 семестр, 2025-2026 уч. год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Актуальность исследования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Неформальный рынок труда в России</a:t>
            </a:r>
          </a:p>
          <a:p>
            <a:pPr lvl="1">
              <a:defRPr sz="1800"/>
            </a:pPr>
            <a:r>
              <a:t>20-25% от общей занятости (14-17 млн человек)</a:t>
            </a:r>
          </a:p>
          <a:p>
            <a:pPr lvl="1">
              <a:defRPr sz="1800"/>
            </a:pPr>
            <a:r>
              <a:t>Высокая скорость найма (1-3 дня от вакансии до выхода)</a:t>
            </a:r>
          </a:p>
          <a:p>
            <a:pPr lvl="1">
              <a:defRPr sz="1800"/>
            </a:pPr>
            <a:r>
              <a:t>Массовость (3-10 человек одновременно)</a:t>
            </a:r>
          </a:p>
          <a:p>
            <a:pPr lvl="1">
              <a:defRPr sz="1800"/>
            </a:pPr>
            <a:r>
              <a:t>Отсутствие формальных требований</a:t>
            </a:r>
          </a:p>
          <a:p>
            <a:pPr>
              <a:defRPr sz="2000" b="1"/>
            </a:pPr>
            <a:r>
              <a:t>Проблемы работодателей</a:t>
            </a:r>
          </a:p>
          <a:p>
            <a:pPr lvl="1">
              <a:defRPr sz="1800"/>
            </a:pPr>
            <a:r>
              <a:t>Хаос в обработке откликов (разные форматы)</a:t>
            </a:r>
          </a:p>
          <a:p>
            <a:pPr lvl="1">
              <a:defRPr sz="1800"/>
            </a:pPr>
            <a:r>
              <a:t>80% времени уходит на сбор и сортировку данных</a:t>
            </a:r>
          </a:p>
          <a:p>
            <a:pPr lvl="1">
              <a:defRPr sz="1800"/>
            </a:pPr>
            <a:r>
              <a:t>Отсутствие автоматизации</a:t>
            </a:r>
          </a:p>
          <a:p>
            <a:pPr lvl="1">
              <a:defRPr sz="1800"/>
            </a:pPr>
            <a:r>
              <a:t>Потеря истории взаимодействия с кандидатами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Цели и задачи исследования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 b="1"/>
            </a:pPr>
            <a:r>
              <a:t>Цель</a:t>
            </a:r>
          </a:p>
          <a:p>
            <a:pPr lvl="1">
              <a:defRPr sz="1800"/>
            </a:pPr>
            <a:r>
              <a:t>Сократить время работодателя на подбор персонала с 3-5 часов в неделю до 10-15 минут за счет автоматизации</a:t>
            </a:r>
          </a:p>
          <a:p>
            <a:pPr>
              <a:defRPr sz="2200" b="1"/>
            </a:pPr>
            <a:r>
              <a:t>Основные задачи</a:t>
            </a:r>
          </a:p>
          <a:p>
            <a:pPr lvl="1">
              <a:defRPr sz="1600"/>
            </a:pPr>
            <a:r>
              <a:t>Проектирование архитектуры с мультитенантностью</a:t>
            </a:r>
          </a:p>
          <a:p>
            <a:pPr lvl="1">
              <a:defRPr sz="1600"/>
            </a:pPr>
            <a:r>
              <a:t>Реализация функционала для работодателей (вакансии, анкеты, отклики)</a:t>
            </a:r>
          </a:p>
          <a:p>
            <a:pPr lvl="1">
              <a:defRPr sz="1600"/>
            </a:pPr>
            <a:r>
              <a:t>Реализация функционала для соискателей (отклик по коду)</a:t>
            </a:r>
          </a:p>
          <a:p>
            <a:pPr lvl="1">
              <a:defRPr sz="1600"/>
            </a:pPr>
            <a:r>
              <a:t>Система рассылок в Telegram-каналы</a:t>
            </a:r>
          </a:p>
          <a:p>
            <a:pPr lvl="1">
              <a:defRPr sz="1600"/>
            </a:pPr>
            <a:r>
              <a:t>Обеспечение целостности данных (snapshot контекста)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Анализ существующих решений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t>HeadHunter, SuperJob</a:t>
            </a:r>
          </a:p>
          <a:p>
            <a:pPr lvl="1">
              <a:defRPr sz="1600">
                <a:solidFill>
                  <a:srgbClr val="808080"/>
                </a:solidFill>
              </a:defRPr>
            </a:pPr>
            <a:r>
              <a:t>Ориентация на долгосрочную занятость, требуют резюме, долгий цикл найма</a:t>
            </a:r>
          </a:p>
          <a:p>
            <a:pPr>
              <a:defRPr sz="1800" b="1"/>
            </a:pPr>
            <a:r>
              <a:t>Avito Работа</a:t>
            </a:r>
          </a:p>
          <a:p>
            <a:pPr lvl="1">
              <a:defRPr sz="1600">
                <a:solidFill>
                  <a:srgbClr val="808080"/>
                </a:solidFill>
              </a:defRPr>
            </a:pPr>
            <a:r>
              <a:t>Отклики в разном формате, нет инструментов для анкет, ручная обработка</a:t>
            </a:r>
          </a:p>
          <a:p>
            <a:pPr>
              <a:defRPr sz="1800" b="1"/>
            </a:pPr>
            <a:r>
              <a:t>YouDo, Profi.ru</a:t>
            </a:r>
          </a:p>
          <a:p>
            <a:pPr lvl="1">
              <a:defRPr sz="1600">
                <a:solidFill>
                  <a:srgbClr val="808080"/>
                </a:solidFill>
              </a:defRPr>
            </a:pPr>
            <a:r>
              <a:t>Ориентация на специалистов, а не массовый найм, высокая комиссия (15-20%)</a:t>
            </a:r>
          </a:p>
          <a:p>
            <a:pPr>
              <a:defRPr sz="1800" b="1"/>
            </a:pPr>
            <a:r>
              <a:t>Telegram-чаты</a:t>
            </a:r>
          </a:p>
          <a:p>
            <a:pPr lvl="1">
              <a:defRPr sz="1600">
                <a:solidFill>
                  <a:srgbClr val="808080"/>
                </a:solidFill>
              </a:defRPr>
            </a:pPr>
            <a:r>
              <a:t>Ручное управление, отклики теряются в потоке, нет структурирования</a:t>
            </a:r>
          </a:p>
          <a:p>
            <a:pPr>
              <a:defRPr sz="1600" b="1">
                <a:solidFill>
                  <a:srgbClr val="FF0000"/>
                </a:solidFill>
              </a:defRPr>
            </a:pPr>
            <a:r>
              <a:t>Вывод: существующие решения не закрывают потребности неформального найма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Разрабатываемое решение - Jobzi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Telegram-бот для автоматизации подбора временного персонала</a:t>
            </a:r>
          </a:p>
          <a:p>
            <a:pPr lvl="1">
              <a:defRPr sz="1800"/>
            </a:pPr>
            <a:r>
              <a:t>Создание вакансий за 2-3 минуты</a:t>
            </a:r>
          </a:p>
          <a:p>
            <a:pPr lvl="1">
              <a:defRPr sz="1800"/>
            </a:pPr>
            <a:r>
              <a:t>Настраиваемые анкеты (6 типов вопросов)</a:t>
            </a:r>
          </a:p>
          <a:p>
            <a:pPr lvl="1">
              <a:defRPr sz="1800"/>
            </a:pPr>
            <a:r>
              <a:t>Уникальный код вакансии формата ABC123</a:t>
            </a:r>
          </a:p>
          <a:p>
            <a:pPr lvl="1">
              <a:defRPr sz="1800"/>
            </a:pPr>
            <a:r>
              <a:t>Автоматический сбор откликов</a:t>
            </a:r>
          </a:p>
          <a:p>
            <a:pPr lvl="1">
              <a:defRPr sz="1800"/>
            </a:pPr>
            <a:r>
              <a:t>Экспорт данных в Excel</a:t>
            </a:r>
          </a:p>
          <a:p>
            <a:pPr lvl="1">
              <a:defRPr sz="1800"/>
            </a:pPr>
            <a:r>
              <a:t>Рассылка в Telegram-группы</a:t>
            </a:r>
          </a:p>
          <a:p>
            <a:pPr lvl="1">
              <a:defRPr sz="1800"/>
            </a:pPr>
            <a:r>
              <a:t>История взаимодействия с кандидатами</a:t>
            </a:r>
          </a:p>
          <a:p>
            <a:pPr>
              <a:defRPr sz="1600">
                <a:solidFill>
                  <a:srgbClr val="008000"/>
                </a:solidFill>
              </a:defRPr>
            </a:pPr>
            <a:r>
              <a:t>Платформа: Telegram (65+ млн пользователей в России)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Архитектура системы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Telegram API Layer - взаимодействие с Telegram Bot API</a:t>
            </a:r>
          </a:p>
          <a:p>
            <a:pPr>
              <a:defRPr sz="1800"/>
            </a:pPr>
            <a:r>
              <a:t>Handler Layer - маршрутизация по типу пользователя</a:t>
            </a:r>
          </a:p>
          <a:p>
            <a:pPr>
              <a:defRPr sz="1800"/>
            </a:pPr>
            <a:r>
              <a:t>Telegram Service Layer - бизнес-логика диалогов</a:t>
            </a:r>
          </a:p>
          <a:p>
            <a:pPr>
              <a:defRPr sz="1800"/>
            </a:pPr>
            <a:r>
              <a:t>DB Service Layer - CRUD операции и бизнес-логика</a:t>
            </a:r>
          </a:p>
          <a:p>
            <a:pPr>
              <a:defRPr sz="1800"/>
            </a:pPr>
            <a:r>
              <a:t>Repository Layer (JPA) - доступ к БД</a:t>
            </a:r>
          </a:p>
          <a:p>
            <a:pPr>
              <a:defRPr sz="1800"/>
            </a:pPr>
            <a:r>
              <a:t>PostgreSQL Database - хранение данных (14 таблиц)</a:t>
            </a:r>
          </a:p>
          <a:p>
            <a:pPr>
              <a:defRPr sz="1400" i="1"/>
            </a:pPr>
            <a:r>
              <a:t>Многоуровневая архитектура обеспечивает слабую связанность, упрощает тестирование и масштабирование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Технологический стек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t>Язык программирования</a:t>
            </a:r>
          </a:p>
          <a:p>
            <a:pPr lvl="1">
              <a:defRPr sz="1400"/>
            </a:pPr>
            <a:r>
              <a:t>Kotlin - null safety, coroutines, совместимость с Java</a:t>
            </a:r>
          </a:p>
          <a:p>
            <a:pPr>
              <a:defRPr sz="1800" b="1"/>
            </a:pPr>
            <a:r>
              <a:t>Framework</a:t>
            </a:r>
          </a:p>
          <a:p>
            <a:pPr lvl="1">
              <a:defRPr sz="1400"/>
            </a:pPr>
            <a:r>
              <a:t>Spring Boot - DI, JPA, транзакции, scheduling</a:t>
            </a:r>
          </a:p>
          <a:p>
            <a:pPr>
              <a:defRPr sz="1800" b="1"/>
            </a:pPr>
            <a:r>
              <a:t>База данных</a:t>
            </a:r>
          </a:p>
          <a:p>
            <a:pPr lvl="1">
              <a:defRPr sz="1400"/>
            </a:pPr>
            <a:r>
              <a:t>PostgreSQL 16 - ACID, JSON support, constraints</a:t>
            </a:r>
          </a:p>
          <a:p>
            <a:pPr>
              <a:defRPr sz="1800" b="1"/>
            </a:pPr>
            <a:r>
              <a:t>Миграции</a:t>
            </a:r>
          </a:p>
          <a:p>
            <a:pPr lvl="1">
              <a:defRPr sz="1400"/>
            </a:pPr>
            <a:r>
              <a:t>Liquibase - версионирование схемы БД</a:t>
            </a:r>
          </a:p>
          <a:p>
            <a:pPr>
              <a:defRPr sz="1800" b="1"/>
            </a:pPr>
            <a:r>
              <a:t>Telegram Integration</a:t>
            </a:r>
          </a:p>
          <a:p>
            <a:pPr lvl="1">
              <a:defRPr sz="1400"/>
            </a:pPr>
            <a:r>
              <a:t>TelegramBots Spring Boot Starter</a:t>
            </a:r>
          </a:p>
          <a:p>
            <a:pPr>
              <a:defRPr sz="1800" b="1"/>
            </a:pPr>
            <a:r>
              <a:t>Excel генерация</a:t>
            </a:r>
          </a:p>
          <a:p>
            <a:pPr lvl="1">
              <a:defRPr sz="1400"/>
            </a:pPr>
            <a:r>
              <a:t>Apache POI</a:t>
            </a:r>
          </a:p>
          <a:p>
            <a:pPr>
              <a:defRPr sz="1800" b="1"/>
            </a:pPr>
            <a:r>
              <a:t>Инфраструктура</a:t>
            </a:r>
          </a:p>
          <a:p>
            <a:pPr lvl="1">
              <a:defRPr sz="1400"/>
            </a:pPr>
            <a:r>
              <a:t>Docker Compose, Gradle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Функционал для работодателей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Управление вакансиями</a:t>
            </a:r>
          </a:p>
          <a:p>
            <a:pPr lvl="1">
              <a:defRPr sz="1600"/>
            </a:pPr>
            <a:r>
              <a:t>Создание через пошаговый диалог</a:t>
            </a:r>
          </a:p>
          <a:p>
            <a:pPr lvl="1">
              <a:defRPr sz="1600"/>
            </a:pPr>
            <a:r>
              <a:t>Генерация уникального кода (ABC123)</a:t>
            </a:r>
          </a:p>
          <a:p>
            <a:pPr lvl="1">
              <a:defRPr sz="1600"/>
            </a:pPr>
            <a:r>
              <a:t>Статусы: DRAFT, ACTIVE, PAUSED, CLOSED</a:t>
            </a:r>
          </a:p>
          <a:p>
            <a:pPr lvl="1">
              <a:defRPr sz="1600"/>
            </a:pPr>
            <a:r>
              <a:t>Редактирование любого поля</a:t>
            </a:r>
          </a:p>
          <a:p>
            <a:pPr>
              <a:defRPr sz="2000" b="1"/>
            </a:pPr>
            <a:r>
              <a:t>Управление откликами</a:t>
            </a:r>
          </a:p>
          <a:p>
            <a:pPr lvl="1">
              <a:defRPr sz="1600"/>
            </a:pPr>
            <a:r>
              <a:t>Просмотр всех откликов с фильтрацией</a:t>
            </a:r>
          </a:p>
          <a:p>
            <a:pPr lvl="1">
              <a:defRPr sz="1600"/>
            </a:pPr>
            <a:r>
              <a:t>Изменение статусов (NEW → VIEWED → ACCEPTED/REJECTED)</a:t>
            </a:r>
          </a:p>
          <a:p>
            <a:pPr lvl="1">
              <a:defRPr sz="1600"/>
            </a:pPr>
            <a:r>
              <a:t>Добавление заметок о кандидатах</a:t>
            </a:r>
          </a:p>
          <a:p>
            <a:pPr lvl="1">
              <a:defRPr sz="1600"/>
            </a:pPr>
            <a:r>
              <a:t>Экспорт в Excel с форматированием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Функционал для соискателей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Процесс отклика</a:t>
            </a:r>
          </a:p>
          <a:p>
            <a:pPr lvl="1">
              <a:defRPr sz="1800"/>
            </a:pPr>
            <a:r>
              <a:t>Ввод кода вакансии (ABC123)</a:t>
            </a:r>
          </a:p>
          <a:p>
            <a:pPr lvl="1">
              <a:defRPr sz="1800"/>
            </a:pPr>
            <a:r>
              <a:t>Просмотр информации о вакансии</a:t>
            </a:r>
          </a:p>
          <a:p>
            <a:pPr lvl="1">
              <a:defRPr sz="1800"/>
            </a:pPr>
            <a:r>
              <a:t>Пошаговое заполнение анкеты</a:t>
            </a:r>
          </a:p>
          <a:p>
            <a:pPr lvl="1">
              <a:defRPr sz="1800"/>
            </a:pPr>
            <a:r>
              <a:t>Валидация ответов в реальном времени</a:t>
            </a:r>
          </a:p>
          <a:p>
            <a:pPr lvl="1">
              <a:defRPr sz="1800"/>
            </a:pPr>
            <a:r>
              <a:t>Получение подтверждения</a:t>
            </a:r>
          </a:p>
          <a:p>
            <a:pPr>
              <a:defRPr sz="2000" b="1"/>
            </a:pPr>
            <a:r>
              <a:t>Типы вопросов анкеты</a:t>
            </a:r>
          </a:p>
          <a:p>
            <a:pPr lvl="1">
              <a:defRPr sz="1600"/>
            </a:pPr>
            <a:r>
              <a:t>TEXT - текстовый ответ</a:t>
            </a:r>
          </a:p>
          <a:p>
            <a:pPr lvl="1">
              <a:defRPr sz="1600"/>
            </a:pPr>
            <a:r>
              <a:t>PHONE - номер телефона с валидацией</a:t>
            </a:r>
          </a:p>
          <a:p>
            <a:pPr lvl="1">
              <a:defRPr sz="1600"/>
            </a:pPr>
            <a:r>
              <a:t>NUMBER - числовой ответ</a:t>
            </a:r>
          </a:p>
          <a:p>
            <a:pPr lvl="1">
              <a:defRPr sz="1600"/>
            </a:pPr>
            <a:r>
              <a:t>DATE - дата</a:t>
            </a:r>
          </a:p>
          <a:p>
            <a:pPr lvl="1">
              <a:defRPr sz="1600"/>
            </a:pPr>
            <a:r>
              <a:t>YES_NO - да/нет</a:t>
            </a:r>
          </a:p>
          <a:p>
            <a:pPr lvl="1">
              <a:defRPr sz="1600"/>
            </a:pPr>
            <a:r>
              <a:t>CHOICE - выбор из вариантов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Модель данных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14 таблиц PostgreSQL</a:t>
            </a:r>
          </a:p>
          <a:p>
            <a:pPr lvl="1">
              <a:defRPr sz="1600"/>
            </a:pPr>
            <a:r>
              <a:t>businesses, users, business_users - мультитенантность</a:t>
            </a:r>
          </a:p>
          <a:p>
            <a:pPr lvl="1">
              <a:defRPr sz="1600"/>
            </a:pPr>
            <a:r>
              <a:t>vacancies - вакансии с уникальными кодами</a:t>
            </a:r>
          </a:p>
          <a:p>
            <a:pPr lvl="1">
              <a:defRPr sz="1600"/>
            </a:pPr>
            <a:r>
              <a:t>questions - анкеты (6 типов вопросов)</a:t>
            </a:r>
          </a:p>
          <a:p>
            <a:pPr lvl="1">
              <a:defRPr sz="1600"/>
            </a:pPr>
            <a:r>
              <a:t>applications - отклики кандидатов</a:t>
            </a:r>
          </a:p>
          <a:p>
            <a:pPr lvl="1">
              <a:defRPr sz="1600"/>
            </a:pPr>
            <a:r>
              <a:t>answers - ответы со snapshot контекста</a:t>
            </a:r>
          </a:p>
          <a:p>
            <a:pPr lvl="1">
              <a:defRPr sz="1600"/>
            </a:pPr>
            <a:r>
              <a:t>broadcast_channels, broadcast_campaigns - рассылки</a:t>
            </a:r>
          </a:p>
          <a:p>
            <a:pPr>
              <a:defRPr sz="2000" b="1"/>
            </a:pPr>
            <a:r>
              <a:t>Ключевые механизмы</a:t>
            </a:r>
          </a:p>
          <a:p>
            <a:pPr lvl="1">
              <a:defRPr sz="1400"/>
            </a:pPr>
            <a:r>
              <a:t>Snapshot контекста - защита от потери данных при изменении вопросов</a:t>
            </a:r>
          </a:p>
          <a:p>
            <a:pPr lvl="1">
              <a:defRPr sz="1400"/>
            </a:pPr>
            <a:r>
              <a:t>UNIQUE constraints - защита от дублей откликов</a:t>
            </a:r>
          </a:p>
          <a:p>
            <a:pPr lvl="1">
              <a:defRPr sz="1400"/>
            </a:pPr>
            <a:r>
              <a:t>CASCADE DELETE - автоматическая очистка связанных данных</a:t>
            </a:r>
          </a:p>
          <a:p>
            <a:pPr lvl="1">
              <a:defRPr sz="1400"/>
            </a:pPr>
            <a:r>
              <a:t>Индексы - оптимизация поиска по кодам и фильтрации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Тестирование системы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Функциональное тестирование</a:t>
            </a:r>
          </a:p>
          <a:p>
            <a:pPr lvl="1">
              <a:defRPr sz="1600"/>
            </a:pPr>
            <a:r>
              <a:t>Создание вакансии со стандартными вопросами</a:t>
            </a:r>
          </a:p>
          <a:p>
            <a:pPr lvl="1">
              <a:defRPr sz="1600"/>
            </a:pPr>
            <a:r>
              <a:t>Отклик с заполнением анкеты</a:t>
            </a:r>
          </a:p>
          <a:p>
            <a:pPr lvl="1">
              <a:defRPr sz="1600"/>
            </a:pPr>
            <a:r>
              <a:t>Защита от дублей откликов</a:t>
            </a:r>
          </a:p>
          <a:p>
            <a:pPr lvl="1">
              <a:defRPr sz="1600"/>
            </a:pPr>
            <a:r>
              <a:t>Валидация кодов вакансий и номеров телефонов</a:t>
            </a:r>
          </a:p>
          <a:p>
            <a:pPr>
              <a:defRPr sz="2000" b="1"/>
            </a:pPr>
            <a:r>
              <a:t>Интеграционное тестирование</a:t>
            </a:r>
          </a:p>
          <a:p>
            <a:pPr lvl="1">
              <a:defRPr sz="1600"/>
            </a:pPr>
            <a:r>
              <a:t>Полный цикл создания вакансии (50 итераций)</a:t>
            </a:r>
          </a:p>
          <a:p>
            <a:pPr lvl="1">
              <a:defRPr sz="1600"/>
            </a:pPr>
            <a:r>
              <a:t>Создание отклика с snapshot контекста (10 откликов)</a:t>
            </a:r>
          </a:p>
          <a:p>
            <a:pPr lvl="1">
              <a:defRPr sz="1600"/>
            </a:pPr>
            <a:r>
              <a:t>Проверка сохранения snapshot при изменении вопроса</a:t>
            </a:r>
          </a:p>
          <a:p>
            <a:pPr>
              <a:defRPr sz="1800" b="1">
                <a:solidFill>
                  <a:srgbClr val="008000"/>
                </a:solidFill>
              </a:defRPr>
            </a:pPr>
            <a:r>
              <a:t>Все тесты пройдены успешно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Достигнутые результаты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Сокращение временных затрат</a:t>
            </a:r>
          </a:p>
          <a:p>
            <a:pPr lvl="1">
              <a:defRPr sz="1800"/>
            </a:pPr>
            <a:r>
              <a:t>До внедрения: 4-6 часов/неделю</a:t>
            </a:r>
          </a:p>
          <a:p>
            <a:pPr lvl="1">
              <a:defRPr sz="1800"/>
            </a:pPr>
            <a:r>
              <a:t>После внедрения: 10-15 минут/неделю</a:t>
            </a:r>
          </a:p>
          <a:p>
            <a:pPr lvl="1">
              <a:defRPr sz="1800" b="1">
                <a:solidFill>
                  <a:srgbClr val="008000"/>
                </a:solidFill>
              </a:defRPr>
            </a:pPr>
            <a:r>
              <a:t>Экономия: 95-97% (в 20-30 раз)</a:t>
            </a:r>
          </a:p>
          <a:p>
            <a:pPr>
              <a:defRPr sz="2000" b="1"/>
            </a:pPr>
            <a:r>
              <a:t>Реализованный функционал</a:t>
            </a:r>
          </a:p>
          <a:p>
            <a:pPr lvl="1">
              <a:defRPr sz="1400"/>
            </a:pPr>
            <a:r>
              <a:t>Создание вакансий за 5 шагов (~2-3 минуты)</a:t>
            </a:r>
          </a:p>
          <a:p>
            <a:pPr lvl="1">
              <a:defRPr sz="1400"/>
            </a:pPr>
            <a:r>
              <a:t>6 типов вопросов в анкетах</a:t>
            </a:r>
          </a:p>
          <a:p>
            <a:pPr lvl="1">
              <a:defRPr sz="1400"/>
            </a:pPr>
            <a:r>
              <a:t>5 статусов откликов</a:t>
            </a:r>
          </a:p>
          <a:p>
            <a:pPr lvl="1">
              <a:defRPr sz="1400"/>
            </a:pPr>
            <a:r>
              <a:t>Экспорт в Excel</a:t>
            </a:r>
          </a:p>
          <a:p>
            <a:pPr lvl="1">
              <a:defRPr sz="1400"/>
            </a:pPr>
            <a:r>
              <a:t>Система рассылок с защитой от rate limit</a:t>
            </a:r>
          </a:p>
          <a:p>
            <a:pPr lvl="1">
              <a:defRPr sz="1400"/>
            </a:pPr>
            <a:r>
              <a:t>Snapshot контекста для защиты данных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Дальнейшее развитие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Подготовка к внедрению</a:t>
            </a:r>
          </a:p>
          <a:p>
            <a:pPr lvl="1">
              <a:defRPr sz="1600"/>
            </a:pPr>
            <a:r>
              <a:t>Развёртывание на production (облако)</a:t>
            </a:r>
          </a:p>
          <a:p>
            <a:pPr lvl="1">
              <a:defRPr sz="1600"/>
            </a:pPr>
            <a:r>
              <a:t>Настройка резервного копирования</a:t>
            </a:r>
          </a:p>
          <a:p>
            <a:pPr lvl="1">
              <a:defRPr sz="1600"/>
            </a:pPr>
            <a:r>
              <a:t>Миграция состояний на Redis</a:t>
            </a:r>
          </a:p>
          <a:p>
            <a:pPr lvl="1">
              <a:defRPr sz="1600"/>
            </a:pPr>
            <a:r>
              <a:t>Подготовка документации</a:t>
            </a:r>
          </a:p>
          <a:p>
            <a:pPr>
              <a:defRPr sz="2000" b="1"/>
            </a:pPr>
            <a:r>
              <a:t>Пилотное тестирование</a:t>
            </a:r>
          </a:p>
          <a:p>
            <a:pPr lvl="1">
              <a:defRPr sz="1600"/>
            </a:pPr>
            <a:r>
              <a:t>Привлечение 3-5 пилотных клиентов</a:t>
            </a:r>
          </a:p>
          <a:p>
            <a:pPr lvl="1">
              <a:defRPr sz="1600"/>
            </a:pPr>
            <a:r>
              <a:t>Сопровождение первых пользователей</a:t>
            </a:r>
          </a:p>
          <a:p>
            <a:pPr lvl="1">
              <a:defRPr sz="1600"/>
            </a:pPr>
            <a:r>
              <a:t>Сбор обратной связи и метрик</a:t>
            </a:r>
          </a:p>
          <a:p>
            <a:pPr lvl="1">
              <a:defRPr sz="1600"/>
            </a:pPr>
            <a:r>
              <a:t>Выявление проблем UX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Заключение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Разработана система Jobzi - Telegram-бот для автоматизации подбора временного персонала</a:t>
            </a:r>
          </a:p>
          <a:p>
            <a:pPr>
              <a:defRPr sz="2000" b="1"/>
            </a:pPr>
            <a:r>
              <a:t>Ключевые достижения</a:t>
            </a:r>
          </a:p>
          <a:p>
            <a:pPr lvl="1">
              <a:defRPr sz="1800"/>
            </a:pPr>
            <a:r>
              <a:t>Сокращение времени на подбор в 20-30 раз</a:t>
            </a:r>
          </a:p>
          <a:p>
            <a:pPr lvl="1">
              <a:defRPr sz="1800"/>
            </a:pPr>
            <a:r>
              <a:t>Полнофункциональная система с вакансиями, анкетами, откликами</a:t>
            </a:r>
          </a:p>
          <a:p>
            <a:pPr lvl="1">
              <a:defRPr sz="1800"/>
            </a:pPr>
            <a:r>
              <a:t>Успешное тестирование всех функций</a:t>
            </a:r>
          </a:p>
          <a:p>
            <a:pPr lvl="1">
              <a:defRPr sz="1800"/>
            </a:pPr>
            <a:r>
              <a:t>Готовность к пилотному внедрению</a:t>
            </a:r>
          </a:p>
          <a:p>
            <a:pPr>
              <a:defRPr sz="1600" i="1"/>
            </a:pPr>
            <a:r>
              <a:t>Система решает реальную проблему неформального рынка труда и готова к апробации в реальных условиях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7432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Спасибо за внимание!</a:t>
            </a:r>
          </a:p>
          <a:p>
            <a:pPr>
              <a:defRPr sz="3600" b="1"/>
            </a:pPr>
          </a:p>
          <a:p>
            <a:pPr>
              <a:defRPr sz="3600" b="1"/>
            </a:pPr>
            <a:r>
              <a:t>Вопросы?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